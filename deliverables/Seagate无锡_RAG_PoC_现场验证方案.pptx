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ba0b7ab52541a7" /><Relationship Type="http://schemas.openxmlformats.org/officeDocument/2006/relationships/extended-properties" Target="/docProps/app.xml" Id="Rf748109f907044e5" /><Relationship Type="http://schemas.openxmlformats.org/officeDocument/2006/relationships/officeDocument" Target="/ppt/presentation.xml" Id="Raf00800b1d9a4c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7e61c222c449c8"/>
  </p:sldMasterIdLst>
  <p:notesMasterIdLst>
    <p:notesMasterId xmlns:r="http://schemas.openxmlformats.org/officeDocument/2006/relationships" r:id="R46f736bac4a4414e"/>
  </p:notesMasterIdLst>
  <p:sldIdLst>
    <p:sldId xmlns:r="http://schemas.openxmlformats.org/officeDocument/2006/relationships" id="256" r:id="R0f0fbf5ac76d4563"/>
    <p:sldId xmlns:r="http://schemas.openxmlformats.org/officeDocument/2006/relationships" id="257" r:id="R23a946f58763419b"/>
    <p:sldId xmlns:r="http://schemas.openxmlformats.org/officeDocument/2006/relationships" id="258" r:id="R89bd0d6399444651"/>
    <p:sldId xmlns:r="http://schemas.openxmlformats.org/officeDocument/2006/relationships" id="259" r:id="Rafc5d38205994e2d"/>
    <p:sldId xmlns:r="http://schemas.openxmlformats.org/officeDocument/2006/relationships" id="260" r:id="Rc316eb62259245ea"/>
    <p:sldId xmlns:r="http://schemas.openxmlformats.org/officeDocument/2006/relationships" id="261" r:id="R0959bbec771e40a0"/>
    <p:sldId xmlns:r="http://schemas.openxmlformats.org/officeDocument/2006/relationships" id="262" r:id="R9052a77928654e0a"/>
    <p:sldId xmlns:r="http://schemas.openxmlformats.org/officeDocument/2006/relationships" id="263" r:id="R0190675ba9bf40b4"/>
    <p:sldId xmlns:r="http://schemas.openxmlformats.org/officeDocument/2006/relationships" id="264" r:id="R559ab217f88043f2"/>
    <p:sldId xmlns:r="http://schemas.openxmlformats.org/officeDocument/2006/relationships" id="265" r:id="R9ce6f7eda2ea4dab"/>
    <p:sldId xmlns:r="http://schemas.openxmlformats.org/officeDocument/2006/relationships" id="266" r:id="R68f3df8f16564087"/>
    <p:sldId xmlns:r="http://schemas.openxmlformats.org/officeDocument/2006/relationships" id="267" r:id="R8212fd6860474c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1ae91ea78c4ff6" /><Relationship Type="http://schemas.openxmlformats.org/officeDocument/2006/relationships/slideMaster" Target="/ppt/slideMasters/slideMaster1.xml" Id="Re47e61c222c449c8" /><Relationship Type="http://schemas.openxmlformats.org/officeDocument/2006/relationships/notesMaster" Target="/ppt/notesMasters/notesMaster1.xml" Id="R46f736bac4a4414e" /><Relationship Type="http://schemas.openxmlformats.org/officeDocument/2006/relationships/presProps" Target="/ppt/presProps.xml" Id="Rde6510f59a7c4b83" /><Relationship Type="http://schemas.openxmlformats.org/officeDocument/2006/relationships/tableStyles" Target="/ppt/tableStyles.xml" Id="R018c0dd72bbd49b2" /><Relationship Type="http://schemas.openxmlformats.org/officeDocument/2006/relationships/slide" Target="/ppt/slides/slide1.xml" Id="R0f0fbf5ac76d4563" /><Relationship Type="http://schemas.openxmlformats.org/officeDocument/2006/relationships/slide" Target="/ppt/slides/slide2.xml" Id="R23a946f58763419b" /><Relationship Type="http://schemas.openxmlformats.org/officeDocument/2006/relationships/slide" Target="/ppt/slides/slide3.xml" Id="R89bd0d6399444651" /><Relationship Type="http://schemas.openxmlformats.org/officeDocument/2006/relationships/slide" Target="/ppt/slides/slide4.xml" Id="Rafc5d38205994e2d" /><Relationship Type="http://schemas.openxmlformats.org/officeDocument/2006/relationships/slide" Target="/ppt/slides/slide5.xml" Id="Rc316eb62259245ea" /><Relationship Type="http://schemas.openxmlformats.org/officeDocument/2006/relationships/slide" Target="/ppt/slides/slide6.xml" Id="R0959bbec771e40a0" /><Relationship Type="http://schemas.openxmlformats.org/officeDocument/2006/relationships/slide" Target="/ppt/slides/slide7.xml" Id="R9052a77928654e0a" /><Relationship Type="http://schemas.openxmlformats.org/officeDocument/2006/relationships/slide" Target="/ppt/slides/slide8.xml" Id="R0190675ba9bf40b4" /><Relationship Type="http://schemas.openxmlformats.org/officeDocument/2006/relationships/slide" Target="/ppt/slides/slide9.xml" Id="R559ab217f88043f2" /><Relationship Type="http://schemas.openxmlformats.org/officeDocument/2006/relationships/slide" Target="/ppt/slides/slide10.xml" Id="R9ce6f7eda2ea4dab" /><Relationship Type="http://schemas.openxmlformats.org/officeDocument/2006/relationships/slide" Target="/ppt/slides/slide11.xml" Id="R68f3df8f16564087" /><Relationship Type="http://schemas.openxmlformats.org/officeDocument/2006/relationships/slide" Target="/ppt/slides/slide12.xml" Id="R8212fd6860474c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8459d421f742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3b0ba63c234f9c" /><Relationship Type="http://schemas.openxmlformats.org/officeDocument/2006/relationships/notesMaster" Target="/ppt/notesMasters/notesMaster1.xml" Id="R080d1c74635c4e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bb6f3d3edb4aad" /><Relationship Type="http://schemas.openxmlformats.org/officeDocument/2006/relationships/notesMaster" Target="/ppt/notesMasters/notesMaster1.xml" Id="R56d7f5bc6c824a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94c2293a61494e" /><Relationship Type="http://schemas.openxmlformats.org/officeDocument/2006/relationships/notesMaster" Target="/ppt/notesMasters/notesMaster1.xml" Id="R12d4cc7268f143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3a5dde3a5c47f1" /><Relationship Type="http://schemas.openxmlformats.org/officeDocument/2006/relationships/notesMaster" Target="/ppt/notesMasters/notesMaster1.xml" Id="R7512631097734e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deae36b9e94900" /><Relationship Type="http://schemas.openxmlformats.org/officeDocument/2006/relationships/notesMaster" Target="/ppt/notesMasters/notesMaster1.xml" Id="R4bf63eff125740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0258e235144940" /><Relationship Type="http://schemas.openxmlformats.org/officeDocument/2006/relationships/notesMaster" Target="/ppt/notesMasters/notesMaster1.xml" Id="Rccf4b7b25f6847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88b89aec4b4d35" /><Relationship Type="http://schemas.openxmlformats.org/officeDocument/2006/relationships/notesMaster" Target="/ppt/notesMasters/notesMaster1.xml" Id="Ra90c5bc80eb24d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67b7b9e7874e4f" /><Relationship Type="http://schemas.openxmlformats.org/officeDocument/2006/relationships/notesMaster" Target="/ppt/notesMasters/notesMaster1.xml" Id="R851e7982c75148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64b30bf3be43f0" /><Relationship Type="http://schemas.openxmlformats.org/officeDocument/2006/relationships/notesMaster" Target="/ppt/notesMasters/notesMaster1.xml" Id="R1f9cb49407554f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6a56f3ec3a497a" /><Relationship Type="http://schemas.openxmlformats.org/officeDocument/2006/relationships/notesMaster" Target="/ppt/notesMasters/notesMaster1.xml" Id="R8ef0912b1c0447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f14436802145d6" /><Relationship Type="http://schemas.openxmlformats.org/officeDocument/2006/relationships/notesMaster" Target="/ppt/notesMasters/notesMaster1.xml" Id="R93f195872cb840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e87133f0424ee0" /><Relationship Type="http://schemas.openxmlformats.org/officeDocument/2006/relationships/notesMaster" Target="/ppt/notesMasters/notesMaster1.xml" Id="Rc96e961882344a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docs/poc-validation-package.md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开场先讲业务决定：是否批准一个六周、只读、可停止的现场验证，而不是讨论模型品牌。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https://www.seagate.com/content/dam/seagate/assets/global-citizenship/_shared/files/certificate-9001-seagate-final-20260121.pdf</a:t>
            </a:r>
          </a:p>
          <a:p xmlns:a="http://schemas.openxmlformats.org/drawingml/2006/main">
            <a:r>
              <a:t>- https://seagatecareers.com/job/Wuxi-Product-Performance-Engineer-Intern/1403909300/</a:t>
            </a:r>
          </a:p>
          <a:p xmlns:a="http://schemas.openxmlformats.org/drawingml/2006/main">
            <a:r>
              <a:t>- https://seagatecareers.com/job/Wuxi-GenAI-%26-Software-Engineering-Intern/1405184300/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结论不是‘无锡已经采用本方案’，而是业务对象、工程任务和 RAG 方向有公开交集，值得进入工厂验证。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https://www.seagate.com/innovation/smart-manufacturing-ai/</a:t>
            </a:r>
          </a:p>
          <a:p xmlns:a="http://schemas.openxmlformats.org/drawingml/2006/main">
            <a:r>
              <a:t>- https://www.seagate.com/resources/seagate-factories-amplify-iiot-benefits-through-ai/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这里是 Seagate 对制造 AI 的公开总结，不把全公司成果归因于无锡，也不声称本 PoC 已产生这些收益。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https://seagatecareers.com/job/Wuxi-Product-Performance-Engineer-Intern/1403909300/</a:t>
            </a:r>
          </a:p>
          <a:p xmlns:a="http://schemas.openxmlformats.org/drawingml/2006/main">
            <a:r>
              <a:t>- https://seagatecareers.com/job/Wuxi-GenAI-%26-Software-Engineering-Intern/1405184300/</a:t>
            </a:r>
          </a:p>
          <a:p xmlns:a="http://schemas.openxmlformats.org/drawingml/2006/main">
            <a:r>
              <a:t>- Internal: docs/requirements.md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明确说这是痛点假设。请现场用一个最近关闭的问题逐步验证：找过哪些系统、等过谁、什么证据改变了方向。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docs/user-stories.md</a:t>
            </a:r>
          </a:p>
          <a:p xmlns:a="http://schemas.openxmlformats.org/drawingml/2006/main">
            <a:r>
              <a:t>- Internal: docs/demo-script.md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使用合成场景说明交互逻辑；F127、产品和站点标识不是 Seagate 真实数据。强调最终决定始终由工程师和现有审批流程完成。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README.md</a:t>
            </a:r>
          </a:p>
          <a:p xmlns:a="http://schemas.openxmlformats.org/drawingml/2006/main">
            <a:r>
              <a:t>- Internal: docs/data-spec.md</a:t>
            </a:r>
          </a:p>
          <a:p xmlns:a="http://schemas.openxmlformats.org/drawingml/2006/main">
            <a:r>
              <a:t>- https://seagatecareers.com/job/Wuxi-GenAI-%26-Software-Engineering-Intern/1405184300/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 PoC 逻辑架构，不是 Seagate 当前系统架构。现场需确认 SeaTrack、文档系统、身份权限和部署边界。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docs/requirements.md</a:t>
            </a:r>
          </a:p>
          <a:p xmlns:a="http://schemas.openxmlformats.org/drawingml/2006/main">
            <a:r>
              <a:t>- Internal: docs/poc-validation-package.md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请质量、工程和 InfoSec 补充一票拒绝清单。生产版需让源文档权限、用户身份和回答审计形成同一控制链。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docs/data-request.md</a:t>
            </a:r>
          </a:p>
          <a:p xmlns:a="http://schemas.openxmlformats.org/drawingml/2006/main">
            <a:r>
              <a:t>- Internal: deliverables/Seagate无锡_RAG_PoC_数据申请清单.xlsx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不先申请单盘完整测试轨迹、图像视频或设备传感器全量数据。只有现场证明聚合数据不足时，才扩展范围。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docs/interview-guide.md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用一个最近关闭的真实问题走查，不要只问抽象意见。会议结束前必须填写主场景、负责人、样本范围、部署边界、指标和决策日期。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docs/poc-validation-package.md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4 周是技术门槛，第 5 周才进入影子试用。任何安全红线未解决，不进入 W5。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docs/poc-validation-package.md</a:t>
            </a:r>
          </a:p>
          <a:p xmlns:a="http://schemas.openxmlformats.org/drawingml/2006/main">
            <a:r>
              <a:t>- Internal: deliverables/Seagate无锡_RAG_PoC_数据申请清单.xlsx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安全指标是一票否决。检索命中由两名 SME 独立判断；引用正确性同时检查内容支持、文档版本和适用范围。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docs/poc-validation-package.md</a:t>
            </a:r>
          </a:p>
          <a:p xmlns:a="http://schemas.openxmlformats.org/drawingml/2006/main">
            <a:r>
              <a:t>- Internal: docs/interview-guide.md</a:t>
            </a:r>
          </a:p>
          <a:p xmlns:a="http://schemas.openxmlformats.org/drawingml/2006/main">
            <a:r>
              <a:t>- Internal: docs/data-request.md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会议结束前确认主场景、业务负责人、工程 SME、数据所有者、部署边界和第 6 周决策人。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b18ae72cb48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e6d693289949a1" /><Relationship Type="http://schemas.openxmlformats.org/officeDocument/2006/relationships/slideLayout" Target="/ppt/slideLayouts/slideLayout1.xml" Id="Rd8f050cf86754b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f050cf86754b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e2a872bc14e75" /><Relationship Type="http://schemas.openxmlformats.org/officeDocument/2006/relationships/notesSlide" Target="/ppt/notesSlides/notesSlide1.xml" Id="R08d20aeb913942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6e0265285490a" /><Relationship Type="http://schemas.openxmlformats.org/officeDocument/2006/relationships/notesSlide" Target="/ppt/notesSlides/notesSlide2.xml" Id="R529e34325b1a4d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d70ee8ee142ee" /><Relationship Type="http://schemas.openxmlformats.org/officeDocument/2006/relationships/notesSlide" Target="/ppt/notesSlides/notesSlide3.xml" Id="R31fd7f2e796940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8ff6c04e34526" /><Relationship Type="http://schemas.openxmlformats.org/officeDocument/2006/relationships/notesSlide" Target="/ppt/notesSlides/notesSlide4.xml" Id="R2e1a730c601e46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8e92464e54000" /><Relationship Type="http://schemas.openxmlformats.org/officeDocument/2006/relationships/notesSlide" Target="/ppt/notesSlides/notesSlide5.xml" Id="R34ceb9d7dd8b4b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d0ea192014e28" /><Relationship Type="http://schemas.openxmlformats.org/officeDocument/2006/relationships/notesSlide" Target="/ppt/notesSlides/notesSlide6.xml" Id="R61c51bf66e9447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3e4f8ae1a44e8" /><Relationship Type="http://schemas.openxmlformats.org/officeDocument/2006/relationships/notesSlide" Target="/ppt/notesSlides/notesSlide7.xml" Id="Rc8a39621982049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c5262d223454e" /><Relationship Type="http://schemas.openxmlformats.org/officeDocument/2006/relationships/notesSlide" Target="/ppt/notesSlides/notesSlide8.xml" Id="R116b0978a5e74d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36f1ce7c4482e" /><Relationship Type="http://schemas.openxmlformats.org/officeDocument/2006/relationships/notesSlide" Target="/ppt/notesSlides/notesSlide9.xml" Id="R27b304cf0fc346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0c42a9b8c4fe4" /><Relationship Type="http://schemas.openxmlformats.org/officeDocument/2006/relationships/notesSlide" Target="/ppt/notesSlides/notesSlide10.xml" Id="R95495cc408de4d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911f069744bc1" /><Relationship Type="http://schemas.openxmlformats.org/officeDocument/2006/relationships/notesSlide" Target="/ppt/notesSlides/notesSlide11.xml" Id="Rd327416b73a94d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2d8ad945d4f52" /><Relationship Type="http://schemas.openxmlformats.org/officeDocument/2006/relationships/notesSlide" Target="/ppt/notesSlides/notesSlide12.xml" Id="Recc65c2464da47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91BE343-6C6E-4679-8314-B8D0E3B7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SEAGATE 无锡工厂｜RAG POC</a:t>
            </a:r>
          </a:p>
        </p:txBody>
      </p:sp>
      <p:sp>
        <p:nvSpPr>
          <p:cNvPr id="2" name="cover-date">
            <a:extLst xmlns:a="http://schemas.openxmlformats.org/drawingml/2006/main">
              <a:ext uri="{FF2B5EF4-FFF2-40B4-BE49-F238E27FC236}">
                <a16:creationId xmlns:a16="http://schemas.microsoft.com/office/drawing/2014/main" id="{F8FD3AB8-B361-433D-BF47-5E10FE85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"/>
            <a:ext cx="398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现场验证方案 · 2026.07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1A164EE-E611-4B89-B48F-36B22F9C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把测试异常分诊</a:t>
            </a:r>
          </a:p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变成证据工作流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1C90B47-40F1-4D97-99A7-16A1BFB3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首个建议切口：SelfTest 良率异常首轮分诊</a:t>
            </a:r>
          </a:p>
        </p:txBody>
      </p:sp>
      <p:sp>
        <p:nvSpPr>
          <p:cNvPr id="5" name="cover-disclaimer">
            <a:extLst xmlns:a="http://schemas.openxmlformats.org/drawingml/2006/main">
              <a:ext uri="{FF2B5EF4-FFF2-40B4-BE49-F238E27FC236}">
                <a16:creationId xmlns:a16="http://schemas.microsoft.com/office/drawing/2014/main" id="{8110EEAB-49EA-4B98-B0B2-0E377BC4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57850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基于公开资料与合成数据，不代表 Seagate 内部流程</a:t>
            </a:r>
          </a:p>
        </p:txBody>
      </p:sp>
    </p:spTree>
    <p:extLst>
      <p:ext uri="{BB962C8B-B14F-4D97-AF65-F5344CB8AC3E}">
        <p14:creationId xmlns:p14="http://schemas.microsoft.com/office/powerpoint/2010/main" val="815639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80FE3A27-AAAB-406E-9A2D-B0371E2C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公开信息说明：无锡制造现场已有 RAG 需求信号</a:t>
            </a:r>
          </a:p>
        </p:txBody>
      </p:sp>
      <p:sp>
        <p:nvSpPr>
          <p:cNvPr id="2" name="slide-2-footer">
            <a:extLst xmlns:a="http://schemas.openxmlformats.org/drawingml/2006/main">
              <a:ext uri="{FF2B5EF4-FFF2-40B4-BE49-F238E27FC236}">
                <a16:creationId xmlns:a16="http://schemas.microsoft.com/office/drawing/2014/main" id="{2491AFA5-C373-472A-BEA6-61D351CF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公开信息推断 + 合成数据演示｜待 Seagate 无锡工厂验证</a:t>
            </a:r>
          </a:p>
        </p:txBody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B6615D65-981C-4A78-B7AB-10861601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s2-intro">
            <a:extLst xmlns:a="http://schemas.openxmlformats.org/drawingml/2006/main">
              <a:ext uri="{FF2B5EF4-FFF2-40B4-BE49-F238E27FC236}">
                <a16:creationId xmlns:a16="http://schemas.microsoft.com/office/drawing/2014/main" id="{5339440A-4DCE-4E91-826C-A645724F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这些事实只用于确定讨论方向；具体产线、流程、数据字段和优先级仍需现场确认。</a:t>
            </a:r>
          </a:p>
        </p:txBody>
      </p:sp>
      <p:sp>
        <p:nvSpPr>
          <p:cNvPr id="5" name="s2-col-1-title">
            <a:extLst xmlns:a="http://schemas.openxmlformats.org/drawingml/2006/main">
              <a:ext uri="{FF2B5EF4-FFF2-40B4-BE49-F238E27FC236}">
                <a16:creationId xmlns:a16="http://schemas.microsoft.com/office/drawing/2014/main" id="{F019C5FA-281C-4B4D-BF2D-8461DB87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制造对象</a:t>
            </a:r>
          </a:p>
        </p:txBody>
      </p:sp>
      <p:sp>
        <p:nvSpPr>
          <p:cNvPr id="6" name="s2-col-1-body">
            <a:extLst xmlns:a="http://schemas.openxmlformats.org/drawingml/2006/main">
              <a:ext uri="{FF2B5EF4-FFF2-40B4-BE49-F238E27FC236}">
                <a16:creationId xmlns:a16="http://schemas.microsoft.com/office/drawing/2014/main" id="{BFCD3B68-6066-4B6C-BB3F-87A38EAE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342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2026 ISO 证书列出无锡范围为硬盘、磁头堆栈组件（HSA）和系统制造。</a:t>
            </a:r>
          </a:p>
        </p:txBody>
      </p:sp>
      <p:sp>
        <p:nvSpPr>
          <p:cNvPr id="7" name="s2-accent-1">
            <a:extLst xmlns:a="http://schemas.openxmlformats.org/drawingml/2006/main">
              <a:ext uri="{FF2B5EF4-FFF2-40B4-BE49-F238E27FC236}">
                <a16:creationId xmlns:a16="http://schemas.microsoft.com/office/drawing/2014/main" id="{B9737969-749A-4984-82D5-CC591932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2-col-2-title">
            <a:extLst xmlns:a="http://schemas.openxmlformats.org/drawingml/2006/main">
              <a:ext uri="{FF2B5EF4-FFF2-40B4-BE49-F238E27FC236}">
                <a16:creationId xmlns:a16="http://schemas.microsoft.com/office/drawing/2014/main" id="{66A35D5F-FCDD-41DC-A67D-3B550290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工程任务</a:t>
            </a:r>
          </a:p>
        </p:txBody>
      </p:sp>
      <p:sp>
        <p:nvSpPr>
          <p:cNvPr id="9" name="s2-col-2-body">
            <a:extLst xmlns:a="http://schemas.openxmlformats.org/drawingml/2006/main">
              <a:ext uri="{FF2B5EF4-FFF2-40B4-BE49-F238E27FC236}">
                <a16:creationId xmlns:a16="http://schemas.microsoft.com/office/drawing/2014/main" id="{223191B5-5028-48B4-8909-144F934D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600450"/>
            <a:ext cx="342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无锡产品性能岗位涉及 HDD 性能、良率监控、制造数据分析和问题早期检测。</a:t>
            </a:r>
          </a:p>
        </p:txBody>
      </p:sp>
      <p:sp>
        <p:nvSpPr>
          <p:cNvPr id="10" name="s2-accent-2">
            <a:extLst xmlns:a="http://schemas.openxmlformats.org/drawingml/2006/main">
              <a:ext uri="{FF2B5EF4-FFF2-40B4-BE49-F238E27FC236}">
                <a16:creationId xmlns:a16="http://schemas.microsoft.com/office/drawing/2014/main" id="{2B357DF6-0C1A-49B3-8BD0-6FDFD617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050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2-col-3-title">
            <a:extLst xmlns:a="http://schemas.openxmlformats.org/drawingml/2006/main">
              <a:ext uri="{FF2B5EF4-FFF2-40B4-BE49-F238E27FC236}">
                <a16:creationId xmlns:a16="http://schemas.microsoft.com/office/drawing/2014/main" id="{8FCA5797-E07A-4170-AC98-3E9BADA3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系统方向</a:t>
            </a:r>
          </a:p>
        </p:txBody>
      </p:sp>
      <p:sp>
        <p:nvSpPr>
          <p:cNvPr id="12" name="s2-col-3-body">
            <a:extLst xmlns:a="http://schemas.openxmlformats.org/drawingml/2006/main">
              <a:ext uri="{FF2B5EF4-FFF2-40B4-BE49-F238E27FC236}">
                <a16:creationId xmlns:a16="http://schemas.microsoft.com/office/drawing/2014/main" id="{0F975659-4511-4026-B7F3-ABF288D1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342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无锡 GFIT 岗位明确提出：为 SeaTrack MES 开发 GenAI 知识管理方案。</a:t>
            </a:r>
          </a:p>
        </p:txBody>
      </p:sp>
      <p:sp>
        <p:nvSpPr>
          <p:cNvPr id="13" name="s2-accent-3">
            <a:extLst xmlns:a="http://schemas.openxmlformats.org/drawingml/2006/main">
              <a:ext uri="{FF2B5EF4-FFF2-40B4-BE49-F238E27FC236}">
                <a16:creationId xmlns:a16="http://schemas.microsoft.com/office/drawing/2014/main" id="{662BEE14-02BA-4CB9-9C26-B4D11732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936600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6CD1840E-D564-44E7-80BF-96080965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公开资料看，工厂 AI 主要服务检测、诊断和工程决策</a:t>
            </a:r>
          </a:p>
        </p:txBody>
      </p:sp>
      <p:sp>
        <p:nvSpPr>
          <p:cNvPr id="2" name="slide-3-footer">
            <a:extLst xmlns:a="http://schemas.openxmlformats.org/drawingml/2006/main">
              <a:ext uri="{FF2B5EF4-FFF2-40B4-BE49-F238E27FC236}">
                <a16:creationId xmlns:a16="http://schemas.microsoft.com/office/drawing/2014/main" id="{A5F300EB-0127-424C-8A5E-69F2EEBF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公开信息推断 + 合成数据演示｜待 Seagate 无锡工厂验证</a:t>
            </a:r>
          </a:p>
        </p:txBody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37B4FBC2-2168-40A7-A975-307DFE79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s3-intro">
            <a:extLst xmlns:a="http://schemas.openxmlformats.org/drawingml/2006/main">
              <a:ext uri="{FF2B5EF4-FFF2-40B4-BE49-F238E27FC236}">
                <a16:creationId xmlns:a16="http://schemas.microsoft.com/office/drawing/2014/main" id="{02C3EDAE-5FDC-4B4D-8989-2EDEC355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首个 PoC 不需要重做已有检测模型；最有价值的切口是把检测结果连接到可审核的工程知识。</a:t>
            </a:r>
          </a:p>
        </p:txBody>
      </p:sp>
      <p:sp>
        <p:nvSpPr>
          <p:cNvPr id="5" name="s3-col-1-title">
            <a:extLst xmlns:a="http://schemas.openxmlformats.org/drawingml/2006/main">
              <a:ext uri="{FF2B5EF4-FFF2-40B4-BE49-F238E27FC236}">
                <a16:creationId xmlns:a16="http://schemas.microsoft.com/office/drawing/2014/main" id="{ADC97940-9096-40EF-B698-049204B8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检测与预测</a:t>
            </a:r>
          </a:p>
        </p:txBody>
      </p:sp>
      <p:sp>
        <p:nvSpPr>
          <p:cNvPr id="6" name="s3-col-1-body">
            <a:extLst xmlns:a="http://schemas.openxmlformats.org/drawingml/2006/main">
              <a:ext uri="{FF2B5EF4-FFF2-40B4-BE49-F238E27FC236}">
                <a16:creationId xmlns:a16="http://schemas.microsoft.com/office/drawing/2014/main" id="{1CE2BF20-3978-45A1-907F-3EAE7500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342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监控异常、识别设备或过程偏差，提前发现良率事件风险。</a:t>
            </a:r>
          </a:p>
        </p:txBody>
      </p:sp>
      <p:sp>
        <p:nvSpPr>
          <p:cNvPr id="7" name="s3-accent-1">
            <a:extLst xmlns:a="http://schemas.openxmlformats.org/drawingml/2006/main">
              <a:ext uri="{FF2B5EF4-FFF2-40B4-BE49-F238E27FC236}">
                <a16:creationId xmlns:a16="http://schemas.microsoft.com/office/drawing/2014/main" id="{5D941A08-A6FF-4361-9ED1-E284DB78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col-2-title">
            <a:extLst xmlns:a="http://schemas.openxmlformats.org/drawingml/2006/main">
              <a:ext uri="{FF2B5EF4-FFF2-40B4-BE49-F238E27FC236}">
                <a16:creationId xmlns:a16="http://schemas.microsoft.com/office/drawing/2014/main" id="{67F78BCE-8C73-4A6A-9EBC-E370ACF3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诊断与推荐</a:t>
            </a:r>
          </a:p>
        </p:txBody>
      </p:sp>
      <p:sp>
        <p:nvSpPr>
          <p:cNvPr id="9" name="s3-col-2-body">
            <a:extLst xmlns:a="http://schemas.openxmlformats.org/drawingml/2006/main">
              <a:ext uri="{FF2B5EF4-FFF2-40B4-BE49-F238E27FC236}">
                <a16:creationId xmlns:a16="http://schemas.microsoft.com/office/drawing/2014/main" id="{AE3C0DFF-75A9-4A21-9911-0A375CBB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600450"/>
            <a:ext cx="342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结合工厂上下文定位可疑变量，辅助根因调查并推荐下一步响应。</a:t>
            </a:r>
          </a:p>
        </p:txBody>
      </p:sp>
      <p:sp>
        <p:nvSpPr>
          <p:cNvPr id="10" name="s3-accent-2">
            <a:extLst xmlns:a="http://schemas.openxmlformats.org/drawingml/2006/main">
              <a:ext uri="{FF2B5EF4-FFF2-40B4-BE49-F238E27FC236}">
                <a16:creationId xmlns:a16="http://schemas.microsoft.com/office/drawing/2014/main" id="{AE3F0D1C-D585-4B02-B7F2-2054EDDA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050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3-col-3-title">
            <a:extLst xmlns:a="http://schemas.openxmlformats.org/drawingml/2006/main">
              <a:ext uri="{FF2B5EF4-FFF2-40B4-BE49-F238E27FC236}">
                <a16:creationId xmlns:a16="http://schemas.microsoft.com/office/drawing/2014/main" id="{36ECC363-1F42-4CC9-9BD4-8E48F131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质量与自动化</a:t>
            </a:r>
          </a:p>
        </p:txBody>
      </p:sp>
      <p:sp>
        <p:nvSpPr>
          <p:cNvPr id="12" name="s3-col-3-body">
            <a:extLst xmlns:a="http://schemas.openxmlformats.org/drawingml/2006/main">
              <a:ext uri="{FF2B5EF4-FFF2-40B4-BE49-F238E27FC236}">
                <a16:creationId xmlns:a16="http://schemas.microsoft.com/office/drawing/2014/main" id="{3242EBA5-7F0B-437E-804B-83D2C1DA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342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图像缺陷分类、物料偏差处理、流程控制和工程效率提升。</a:t>
            </a:r>
          </a:p>
        </p:txBody>
      </p:sp>
      <p:sp>
        <p:nvSpPr>
          <p:cNvPr id="13" name="s3-accent-3">
            <a:extLst xmlns:a="http://schemas.openxmlformats.org/drawingml/2006/main">
              <a:ext uri="{FF2B5EF4-FFF2-40B4-BE49-F238E27FC236}">
                <a16:creationId xmlns:a16="http://schemas.microsoft.com/office/drawing/2014/main" id="{1118934B-9D50-413C-955A-4E3CBC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076690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14A286C-11D4-4BF8-ABBA-0E535E93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真正的摩擦可能不是缺模型，而是证据分散</a:t>
            </a:r>
          </a:p>
        </p:txBody>
      </p:sp>
      <p:sp>
        <p:nvSpPr>
          <p:cNvPr id="2" name="slide-4-footer">
            <a:extLst xmlns:a="http://schemas.openxmlformats.org/drawingml/2006/main">
              <a:ext uri="{FF2B5EF4-FFF2-40B4-BE49-F238E27FC236}">
                <a16:creationId xmlns:a16="http://schemas.microsoft.com/office/drawing/2014/main" id="{7DC7A0C9-89DE-47AC-87F8-52B39F17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公开信息推断 + 合成数据演示｜待 Seagate 无锡工厂验证</a:t>
            </a:r>
          </a:p>
        </p:txBody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8591D106-A095-4B2F-A035-97297313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s4-left-title">
            <a:extLst xmlns:a="http://schemas.openxmlformats.org/drawingml/2006/main">
              <a:ext uri="{FF2B5EF4-FFF2-40B4-BE49-F238E27FC236}">
                <a16:creationId xmlns:a16="http://schemas.microsoft.com/office/drawing/2014/main" id="{247EC081-9C39-45E5-A570-EE1CF89B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今天｜待验证假设</a:t>
            </a:r>
          </a:p>
        </p:txBody>
      </p:sp>
      <p:sp>
        <p:nvSpPr>
          <p:cNvPr id="5" name="s4-left-body">
            <a:extLst xmlns:a="http://schemas.openxmlformats.org/drawingml/2006/main">
              <a:ext uri="{FF2B5EF4-FFF2-40B4-BE49-F238E27FC236}">
                <a16:creationId xmlns:a16="http://schemas.microsoft.com/office/drawing/2014/main" id="{D8D0E3C7-5072-48F7-9B98-D521C184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334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跨 MES、报表、SOP、FA 和变更记录补齐上下文。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同一 Failure Code 可能对应设备、物料、程序或产品等不同原因。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文档版本、适用范围和权限难以一起判断。</a:t>
            </a:r>
          </a:p>
        </p:txBody>
      </p:sp>
      <p:sp>
        <p:nvSpPr>
          <p:cNvPr id="6" name="s4-right-title">
            <a:extLst xmlns:a="http://schemas.openxmlformats.org/drawingml/2006/main">
              <a:ext uri="{FF2B5EF4-FFF2-40B4-BE49-F238E27FC236}">
                <a16:creationId xmlns:a16="http://schemas.microsoft.com/office/drawing/2014/main" id="{99DE36DE-107C-472F-94A9-E7390593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PoC｜要证明的改变</a:t>
            </a:r>
          </a:p>
        </p:txBody>
      </p:sp>
      <p:sp>
        <p:nvSpPr>
          <p:cNvPr id="7" name="s4-right-body">
            <a:extLst xmlns:a="http://schemas.openxmlformats.org/drawingml/2006/main">
              <a:ext uri="{FF2B5EF4-FFF2-40B4-BE49-F238E27FC236}">
                <a16:creationId xmlns:a16="http://schemas.microsoft.com/office/drawing/2014/main" id="{2242C542-0EB4-4FDC-85DF-561E38D6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5334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自动带入制造上下文。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优先返回真正相似的已关闭案例与当前有效文档。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分开事实、推断、检查项和引用；允许工程师修改或拒绝。</a:t>
            </a:r>
          </a:p>
        </p:txBody>
      </p:sp>
    </p:spTree>
    <p:extLst>
      <p:ext uri="{BB962C8B-B14F-4D97-AF65-F5344CB8AC3E}">
        <p14:creationId xmlns:p14="http://schemas.microsoft.com/office/powerpoint/2010/main" val="183970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E8C1CF5A-5E2A-469D-9F68-22263758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一次异常发生后，系统只做三件事</a:t>
            </a:r>
          </a:p>
        </p:txBody>
      </p:sp>
      <p:sp>
        <p:nvSpPr>
          <p:cNvPr id="2" name="slide-5-footer">
            <a:extLst xmlns:a="http://schemas.openxmlformats.org/drawingml/2006/main">
              <a:ext uri="{FF2B5EF4-FFF2-40B4-BE49-F238E27FC236}">
                <a16:creationId xmlns:a16="http://schemas.microsoft.com/office/drawing/2014/main" id="{929D8B64-F5D0-4175-A7BB-4B9C2F75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公开信息推断 + 合成数据演示｜待 Seagate 无锡工厂验证</a:t>
            </a:r>
          </a:p>
        </p:txBody>
      </p:sp>
      <p:sp>
        <p:nvSpPr>
          <p:cNvPr id="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EBB42CB7-054D-4AD2-83D2-9C98BA6B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20" name="s5-timeline"/>
          <p:cNvCxnSpPr/>
          <p:nvPr/>
        </p:nvCxnSpPr>
        <p:spPr>
          <a:xfrm xmlns:a="http://schemas.openxmlformats.org/drawingml/2006/main">
            <a:off x="838200" y="3371850"/>
            <a:ext cx="10382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5-dot-0">
            <a:extLst xmlns:a="http://schemas.openxmlformats.org/drawingml/2006/main">
              <a:ext uri="{FF2B5EF4-FFF2-40B4-BE49-F238E27FC236}">
                <a16:creationId xmlns:a16="http://schemas.microsoft.com/office/drawing/2014/main" id="{16229A4E-1BE2-4810-83E3-C3BC6085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305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5-label-0">
            <a:extLst xmlns:a="http://schemas.openxmlformats.org/drawingml/2006/main">
              <a:ext uri="{FF2B5EF4-FFF2-40B4-BE49-F238E27FC236}">
                <a16:creationId xmlns:a16="http://schemas.microsoft.com/office/drawing/2014/main" id="{11DA4822-8BBF-49BB-8D0A-291C4641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51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自动补齐</a:t>
            </a:r>
          </a:p>
        </p:txBody>
      </p:sp>
      <p:sp>
        <p:nvSpPr>
          <p:cNvPr id="7" name="s5-title-0">
            <a:extLst xmlns:a="http://schemas.openxmlformats.org/drawingml/2006/main">
              <a:ext uri="{FF2B5EF4-FFF2-40B4-BE49-F238E27FC236}">
                <a16:creationId xmlns:a16="http://schemas.microsoft.com/office/drawing/2014/main" id="{3B1772C9-7F8E-4A75-9A35-5CEEE485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5762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理解现场上下文</a:t>
            </a:r>
          </a:p>
        </p:txBody>
      </p:sp>
      <p:sp>
        <p:nvSpPr>
          <p:cNvPr id="8" name="s5-body-0">
            <a:extLst xmlns:a="http://schemas.openxmlformats.org/drawingml/2006/main">
              <a:ext uri="{FF2B5EF4-FFF2-40B4-BE49-F238E27FC236}">
                <a16:creationId xmlns:a16="http://schemas.microsoft.com/office/drawing/2014/main" id="{07F05F0A-A1A6-4187-A111-C3A9BFDB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67250"/>
            <a:ext cx="285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产品、站点、失败现象、异常范围、物料与版本</a:t>
            </a:r>
          </a:p>
        </p:txBody>
      </p:sp>
      <p:sp>
        <p:nvSpPr>
          <p:cNvPr id="9" name="s5-dot-1">
            <a:extLst xmlns:a="http://schemas.openxmlformats.org/drawingml/2006/main">
              <a:ext uri="{FF2B5EF4-FFF2-40B4-BE49-F238E27FC236}">
                <a16:creationId xmlns:a16="http://schemas.microsoft.com/office/drawing/2014/main" id="{09871C34-C1AB-4862-88E5-724BA5DE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305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5-label-1">
            <a:extLst xmlns:a="http://schemas.openxmlformats.org/drawingml/2006/main">
              <a:ext uri="{FF2B5EF4-FFF2-40B4-BE49-F238E27FC236}">
                <a16:creationId xmlns:a16="http://schemas.microsoft.com/office/drawing/2014/main" id="{31731C38-AA0C-4D94-B54E-489D3230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051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证据检索</a:t>
            </a:r>
          </a:p>
        </p:txBody>
      </p:sp>
      <p:sp>
        <p:nvSpPr>
          <p:cNvPr id="11" name="s5-title-1">
            <a:extLst xmlns:a="http://schemas.openxmlformats.org/drawingml/2006/main">
              <a:ext uri="{FF2B5EF4-FFF2-40B4-BE49-F238E27FC236}">
                <a16:creationId xmlns:a16="http://schemas.microsoft.com/office/drawing/2014/main" id="{F6D39F25-79C2-49FD-98FE-5CB128BE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5762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找相似而非同词</a:t>
            </a:r>
          </a:p>
        </p:txBody>
      </p:sp>
      <p:sp>
        <p:nvSpPr>
          <p:cNvPr id="12" name="s5-body-1">
            <a:extLst xmlns:a="http://schemas.openxmlformats.org/drawingml/2006/main">
              <a:ext uri="{FF2B5EF4-FFF2-40B4-BE49-F238E27FC236}">
                <a16:creationId xmlns:a16="http://schemas.microsoft.com/office/drawing/2014/main" id="{93B003DD-00FB-44FF-8DDA-7B9BFB2E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67250"/>
            <a:ext cx="285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历史案例、有效 SOP、FA 与变更记录</a:t>
            </a:r>
          </a:p>
        </p:txBody>
      </p:sp>
      <p:sp>
        <p:nvSpPr>
          <p:cNvPr id="13" name="s5-dot-2">
            <a:extLst xmlns:a="http://schemas.openxmlformats.org/drawingml/2006/main">
              <a:ext uri="{FF2B5EF4-FFF2-40B4-BE49-F238E27FC236}">
                <a16:creationId xmlns:a16="http://schemas.microsoft.com/office/drawing/2014/main" id="{86C03FD0-A73B-4A1B-A108-7C701CEC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05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5-label-2">
            <a:extLst xmlns:a="http://schemas.openxmlformats.org/drawingml/2006/main">
              <a:ext uri="{FF2B5EF4-FFF2-40B4-BE49-F238E27FC236}">
                <a16:creationId xmlns:a16="http://schemas.microsoft.com/office/drawing/2014/main" id="{3D67E468-2B7A-4294-BCDA-E0AFE4E3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工程师决定</a:t>
            </a:r>
          </a:p>
        </p:txBody>
      </p:sp>
      <p:sp>
        <p:nvSpPr>
          <p:cNvPr id="15" name="s5-title-2">
            <a:extLst xmlns:a="http://schemas.openxmlformats.org/drawingml/2006/main">
              <a:ext uri="{FF2B5EF4-FFF2-40B4-BE49-F238E27FC236}">
                <a16:creationId xmlns:a16="http://schemas.microsoft.com/office/drawing/2014/main" id="{EC995CC4-18DA-46E2-84C4-49509BBF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5762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接受、修改或升级</a:t>
            </a:r>
          </a:p>
        </p:txBody>
      </p:sp>
      <p:sp>
        <p:nvSpPr>
          <p:cNvPr id="16" name="s5-body-2">
            <a:extLst xmlns:a="http://schemas.openxmlformats.org/drawingml/2006/main">
              <a:ext uri="{FF2B5EF4-FFF2-40B4-BE49-F238E27FC236}">
                <a16:creationId xmlns:a16="http://schemas.microsoft.com/office/drawing/2014/main" id="{800035F5-102F-47CA-AED4-2398D359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67250"/>
            <a:ext cx="285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系统不确认根因；所有结果保留引用与审计</a:t>
            </a:r>
          </a:p>
        </p:txBody>
      </p:sp>
    </p:spTree>
    <p:extLst>
      <p:ext uri="{BB962C8B-B14F-4D97-AF65-F5344CB8AC3E}">
        <p14:creationId xmlns:p14="http://schemas.microsoft.com/office/powerpoint/2010/main" val="9327891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D33E56D7-BC34-408D-BB7A-9BD74CCC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RAG 的职责是把异常上下文连接到受控证据</a:t>
            </a:r>
          </a:p>
        </p:txBody>
      </p:sp>
      <p:sp>
        <p:nvSpPr>
          <p:cNvPr id="2" name="slide-6-footer">
            <a:extLst xmlns:a="http://schemas.openxmlformats.org/drawingml/2006/main">
              <a:ext uri="{FF2B5EF4-FFF2-40B4-BE49-F238E27FC236}">
                <a16:creationId xmlns:a16="http://schemas.microsoft.com/office/drawing/2014/main" id="{70A6D617-BE38-44DC-AC13-A2F1D883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公开信息推断 + 合成数据演示｜待 Seagate 无锡工厂验证</a:t>
            </a:r>
          </a:p>
        </p:txBody>
      </p:sp>
      <p:sp>
        <p:nvSpPr>
          <p:cNvPr id="3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BDAB1FCF-B277-46AB-9512-CB60481B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s6-intro">
            <a:extLst xmlns:a="http://schemas.openxmlformats.org/drawingml/2006/main">
              <a:ext uri="{FF2B5EF4-FFF2-40B4-BE49-F238E27FC236}">
                <a16:creationId xmlns:a16="http://schemas.microsoft.com/office/drawing/2014/main" id="{D7F1306A-0F10-46D4-85A1-DC07C187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结构化数据决定“像不像”；文档与案例决定“凭什么”；权限与安全决定“能不能说”。</a:t>
            </a:r>
          </a:p>
        </p:txBody>
      </p:sp>
      <p:sp>
        <p:nvSpPr>
          <p:cNvPr id="5" name="s6-node-0">
            <a:extLst xmlns:a="http://schemas.openxmlformats.org/drawingml/2006/main">
              <a:ext uri="{FF2B5EF4-FFF2-40B4-BE49-F238E27FC236}">
                <a16:creationId xmlns:a16="http://schemas.microsoft.com/office/drawing/2014/main" id="{6D866929-E0EB-4FBC-9B26-6C323DEC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1809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s6-node-0-title">
            <a:extLst xmlns:a="http://schemas.openxmlformats.org/drawingml/2006/main">
              <a:ext uri="{FF2B5EF4-FFF2-40B4-BE49-F238E27FC236}">
                <a16:creationId xmlns:a16="http://schemas.microsoft.com/office/drawing/2014/main" id="{896FF0CB-6E37-44CB-8B64-BC7292D4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35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SeaTrack / MES</a:t>
            </a:r>
          </a:p>
        </p:txBody>
      </p:sp>
      <p:sp>
        <p:nvSpPr>
          <p:cNvPr id="7" name="s6-node-0-body">
            <a:extLst xmlns:a="http://schemas.openxmlformats.org/drawingml/2006/main">
              <a:ext uri="{FF2B5EF4-FFF2-40B4-BE49-F238E27FC236}">
                <a16:creationId xmlns:a16="http://schemas.microsoft.com/office/drawing/2014/main" id="{557093B6-FD37-4B63-9790-EEB0B755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58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测试与制造上下文</a:t>
            </a:r>
          </a:p>
        </p:txBody>
      </p:sp>
      <p:sp>
        <p:nvSpPr>
          <p:cNvPr id="8" name="s6-node-1">
            <a:extLst xmlns:a="http://schemas.openxmlformats.org/drawingml/2006/main">
              <a:ext uri="{FF2B5EF4-FFF2-40B4-BE49-F238E27FC236}">
                <a16:creationId xmlns:a16="http://schemas.microsoft.com/office/drawing/2014/main" id="{D430EC0A-E574-4B8B-9C0A-C7A02474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47950"/>
            <a:ext cx="1809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s6-node-1-title">
            <a:extLst xmlns:a="http://schemas.openxmlformats.org/drawingml/2006/main">
              <a:ext uri="{FF2B5EF4-FFF2-40B4-BE49-F238E27FC236}">
                <a16:creationId xmlns:a16="http://schemas.microsoft.com/office/drawing/2014/main" id="{490CC283-9CC8-4A82-AE7D-B14ABB85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146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上下文识别</a:t>
            </a:r>
          </a:p>
        </p:txBody>
      </p:sp>
      <p:sp>
        <p:nvSpPr>
          <p:cNvPr id="10" name="s6-node-1-body">
            <a:extLst xmlns:a="http://schemas.openxmlformats.org/drawingml/2006/main">
              <a:ext uri="{FF2B5EF4-FFF2-40B4-BE49-F238E27FC236}">
                <a16:creationId xmlns:a16="http://schemas.microsoft.com/office/drawing/2014/main" id="{168317F2-4744-4675-9658-3E0E5B87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433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7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单站 / 批次 / 版本</a:t>
            </a:r>
          </a:p>
        </p:txBody>
      </p:sp>
      <p:sp>
        <p:nvSpPr>
          <p:cNvPr id="11" name="s6-node-2">
            <a:extLst xmlns:a="http://schemas.openxmlformats.org/drawingml/2006/main">
              <a:ext uri="{FF2B5EF4-FFF2-40B4-BE49-F238E27FC236}">
                <a16:creationId xmlns:a16="http://schemas.microsoft.com/office/drawing/2014/main" id="{373728F2-00E3-489B-9DF0-812C36E7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1809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2" name="s6-node-2-title">
            <a:extLst xmlns:a="http://schemas.openxmlformats.org/drawingml/2006/main">
              <a:ext uri="{FF2B5EF4-FFF2-40B4-BE49-F238E27FC236}">
                <a16:creationId xmlns:a16="http://schemas.microsoft.com/office/drawing/2014/main" id="{3EE0608D-AD53-443E-8330-9BB77810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混合检索</a:t>
            </a:r>
          </a:p>
        </p:txBody>
      </p:sp>
      <p:sp>
        <p:nvSpPr>
          <p:cNvPr id="13" name="s6-node-2-body">
            <a:extLst xmlns:a="http://schemas.openxmlformats.org/drawingml/2006/main">
              <a:ext uri="{FF2B5EF4-FFF2-40B4-BE49-F238E27FC236}">
                <a16:creationId xmlns:a16="http://schemas.microsoft.com/office/drawing/2014/main" id="{38C5EEC2-5927-42EB-9C2E-D34603F5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236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词法 + 向量 + 字段</a:t>
            </a:r>
          </a:p>
        </p:txBody>
      </p:sp>
      <p:sp>
        <p:nvSpPr>
          <p:cNvPr id="14" name="s6-node-3">
            <a:extLst xmlns:a="http://schemas.openxmlformats.org/drawingml/2006/main">
              <a:ext uri="{FF2B5EF4-FFF2-40B4-BE49-F238E27FC236}">
                <a16:creationId xmlns:a16="http://schemas.microsoft.com/office/drawing/2014/main" id="{7A6ADDCF-06FB-4EF5-81F0-D9FEC8DE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47950"/>
            <a:ext cx="1809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s6-node-3-title">
            <a:extLst xmlns:a="http://schemas.openxmlformats.org/drawingml/2006/main">
              <a:ext uri="{FF2B5EF4-FFF2-40B4-BE49-F238E27FC236}">
                <a16:creationId xmlns:a16="http://schemas.microsoft.com/office/drawing/2014/main" id="{2B39E440-8A24-401C-BACE-B1C93501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146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证据合成</a:t>
            </a:r>
          </a:p>
        </p:txBody>
      </p:sp>
      <p:sp>
        <p:nvSpPr>
          <p:cNvPr id="16" name="s6-node-3-body">
            <a:extLst xmlns:a="http://schemas.openxmlformats.org/drawingml/2006/main">
              <a:ext uri="{FF2B5EF4-FFF2-40B4-BE49-F238E27FC236}">
                <a16:creationId xmlns:a16="http://schemas.microsoft.com/office/drawing/2014/main" id="{E139855C-121C-43AB-A886-01A96C30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433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引用、适用性、置信度</a:t>
            </a:r>
          </a:p>
        </p:txBody>
      </p:sp>
      <p:sp>
        <p:nvSpPr>
          <p:cNvPr id="17" name="s6-node-4">
            <a:extLst xmlns:a="http://schemas.openxmlformats.org/drawingml/2006/main">
              <a:ext uri="{FF2B5EF4-FFF2-40B4-BE49-F238E27FC236}">
                <a16:creationId xmlns:a16="http://schemas.microsoft.com/office/drawing/2014/main" id="{6702B400-A4D1-4DD8-BE23-D6670F25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47950"/>
            <a:ext cx="1809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8" name="s6-node-4-title">
            <a:extLst xmlns:a="http://schemas.openxmlformats.org/drawingml/2006/main">
              <a:ext uri="{FF2B5EF4-FFF2-40B4-BE49-F238E27FC236}">
                <a16:creationId xmlns:a16="http://schemas.microsoft.com/office/drawing/2014/main" id="{584764C1-48C5-4822-906E-804D9E85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146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调查工作台</a:t>
            </a:r>
          </a:p>
        </p:txBody>
      </p:sp>
      <p:sp>
        <p:nvSpPr>
          <p:cNvPr id="19" name="s6-node-4-body">
            <a:extLst xmlns:a="http://schemas.openxmlformats.org/drawingml/2006/main">
              <a:ext uri="{FF2B5EF4-FFF2-40B4-BE49-F238E27FC236}">
                <a16:creationId xmlns:a16="http://schemas.microsoft.com/office/drawing/2014/main" id="{CBC91EEF-7C5C-46B9-BD4C-7FB9A148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433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58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检查、反馈与升级</a:t>
            </a:r>
          </a:p>
        </p:txBody>
      </p:sp>
      <p:cxnSp>
        <p:nvCxnSpPr>
          <p:cNvPr id="45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09800" y="34575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533900" y="34575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858000" y="34575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182100" y="34575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24" name="s6-sources">
            <a:extLst xmlns:a="http://schemas.openxmlformats.org/drawingml/2006/main">
              <a:ext uri="{FF2B5EF4-FFF2-40B4-BE49-F238E27FC236}">
                <a16:creationId xmlns:a16="http://schemas.microsoft.com/office/drawing/2014/main" id="{4FB7D3D3-4729-4B00-9064-102B936D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证据源：已关闭案例 · 当前有效 SOP / OCAP · FA 报告 · 变更记录</a:t>
            </a:r>
          </a:p>
        </p:txBody>
      </p:sp>
      <p:sp>
        <p:nvSpPr>
          <p:cNvPr id="25" name="s6-guardrail">
            <a:extLst xmlns:a="http://schemas.openxmlformats.org/drawingml/2006/main">
              <a:ext uri="{FF2B5EF4-FFF2-40B4-BE49-F238E27FC236}">
                <a16:creationId xmlns:a16="http://schemas.microsoft.com/office/drawing/2014/main" id="{A0BF0EDF-20FD-43A9-A2E4-93DE85A7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横向约束：源权限继承 · 高风险拒绝 · 查询与引用审计</a:t>
            </a:r>
          </a:p>
        </p:txBody>
      </p:sp>
    </p:spTree>
    <p:extLst>
      <p:ext uri="{BB962C8B-B14F-4D97-AF65-F5344CB8AC3E}">
        <p14:creationId xmlns:p14="http://schemas.microsoft.com/office/powerpoint/2010/main" val="8789394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1196C279-4730-401B-882F-499AEB20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系统可以缩短路径，但不能替工程师做高风险决定</a:t>
            </a:r>
          </a:p>
        </p:txBody>
      </p:sp>
      <p:sp>
        <p:nvSpPr>
          <p:cNvPr id="2" name="slide-7-footer">
            <a:extLst xmlns:a="http://schemas.openxmlformats.org/drawingml/2006/main">
              <a:ext uri="{FF2B5EF4-FFF2-40B4-BE49-F238E27FC236}">
                <a16:creationId xmlns:a16="http://schemas.microsoft.com/office/drawing/2014/main" id="{26E745F6-F1D7-4597-9ABD-747DD3BD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公开信息推断 + 合成数据演示｜待 Seagate 无锡工厂验证</a:t>
            </a:r>
          </a:p>
        </p:txBody>
      </p:sp>
      <p:sp>
        <p:nvSpPr>
          <p:cNvPr id="3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38771D11-4705-4415-884C-F2223F41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s7-intro">
            <a:extLst xmlns:a="http://schemas.openxmlformats.org/drawingml/2006/main">
              <a:ext uri="{FF2B5EF4-FFF2-40B4-BE49-F238E27FC236}">
                <a16:creationId xmlns:a16="http://schemas.microsoft.com/office/drawing/2014/main" id="{3958036C-E998-40D9-8A48-63770BE2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边界是产品能力，不是上线后的补丁。答案必须区分事实、系统推断和待人工确认项。</a:t>
            </a:r>
          </a:p>
        </p:txBody>
      </p:sp>
      <p:sp>
        <p:nvSpPr>
          <p:cNvPr id="5" name="s7-allow-panel">
            <a:extLst xmlns:a="http://schemas.openxmlformats.org/drawingml/2006/main">
              <a:ext uri="{FF2B5EF4-FFF2-40B4-BE49-F238E27FC236}">
                <a16:creationId xmlns:a16="http://schemas.microsoft.com/office/drawing/2014/main" id="{B23F94FC-6C74-452D-9022-7F23CFEB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334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s7-deny-panel">
            <a:extLst xmlns:a="http://schemas.openxmlformats.org/drawingml/2006/main">
              <a:ext uri="{FF2B5EF4-FFF2-40B4-BE49-F238E27FC236}">
                <a16:creationId xmlns:a16="http://schemas.microsoft.com/office/drawing/2014/main" id="{CA9498E1-6AFB-4EEC-833F-0C881263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5334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7" name="s7-allow">
            <a:extLst xmlns:a="http://schemas.openxmlformats.org/drawingml/2006/main">
              <a:ext uri="{FF2B5EF4-FFF2-40B4-BE49-F238E27FC236}">
                <a16:creationId xmlns:a16="http://schemas.microsoft.com/office/drawing/2014/main" id="{6F3B10ED-5B3E-4750-90C4-A565920D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允许｜只读检索与建议</a:t>
            </a:r>
          </a:p>
        </p:txBody>
      </p:sp>
      <p:sp>
        <p:nvSpPr>
          <p:cNvPr id="8" name="s7-deny">
            <a:extLst xmlns:a="http://schemas.openxmlformats.org/drawingml/2006/main">
              <a:ext uri="{FF2B5EF4-FFF2-40B4-BE49-F238E27FC236}">
                <a16:creationId xmlns:a16="http://schemas.microsoft.com/office/drawing/2014/main" id="{67DE8F11-632E-4AD8-8CBC-9E7E0913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337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拒绝｜控制、放行与越权</a:t>
            </a:r>
          </a:p>
        </p:txBody>
      </p:sp>
      <p:sp>
        <p:nvSpPr>
          <p:cNvPr id="9" name="s7-allow-detail">
            <a:extLst xmlns:a="http://schemas.openxmlformats.org/drawingml/2006/main">
              <a:ext uri="{FF2B5EF4-FFF2-40B4-BE49-F238E27FC236}">
                <a16:creationId xmlns:a16="http://schemas.microsoft.com/office/drawing/2014/main" id="{BBB2CE1F-135D-4648-8ACD-4EDBC049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857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相似案例 · 有效文档 · 首轮检查 · 低置信度升级</a:t>
            </a:r>
          </a:p>
        </p:txBody>
      </p:sp>
      <p:sp>
        <p:nvSpPr>
          <p:cNvPr id="10" name="s7-deny-detail">
            <a:extLst xmlns:a="http://schemas.openxmlformats.org/drawingml/2006/main">
              <a:ext uri="{FF2B5EF4-FFF2-40B4-BE49-F238E27FC236}">
                <a16:creationId xmlns:a16="http://schemas.microsoft.com/office/drawing/2014/main" id="{4FB97DFC-D298-40E1-AB87-A090AFB6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81550"/>
            <a:ext cx="4857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改参数 · 跳测 · 停线 · 隔离/报废/放行 · 读取未授权资料</a:t>
            </a:r>
          </a:p>
        </p:txBody>
      </p:sp>
    </p:spTree>
    <p:extLst>
      <p:ext uri="{BB962C8B-B14F-4D97-AF65-F5344CB8AC3E}">
        <p14:creationId xmlns:p14="http://schemas.microsoft.com/office/powerpoint/2010/main" val="4609677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C9641FC5-477A-437A-858B-6FE7C1B5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真实数据阶段只申请四类 P0 资产</a:t>
            </a:r>
          </a:p>
        </p:txBody>
      </p:sp>
      <p:sp>
        <p:nvSpPr>
          <p:cNvPr id="2" name="slide-8-footer">
            <a:extLst xmlns:a="http://schemas.openxmlformats.org/drawingml/2006/main">
              <a:ext uri="{FF2B5EF4-FFF2-40B4-BE49-F238E27FC236}">
                <a16:creationId xmlns:a16="http://schemas.microsoft.com/office/drawing/2014/main" id="{0141D70D-93E4-4F65-B654-39E99913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公开信息推断 + 合成数据演示｜待 Seagate 无锡工厂验证</a:t>
            </a:r>
          </a:p>
        </p:txBody>
      </p:sp>
      <p:sp>
        <p:nvSpPr>
          <p:cNvPr id="3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8AA6AD78-6DE2-4A22-B479-E2973F98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s8-intro">
            <a:extLst xmlns:a="http://schemas.openxmlformats.org/drawingml/2006/main">
              <a:ext uri="{FF2B5EF4-FFF2-40B4-BE49-F238E27FC236}">
                <a16:creationId xmlns:a16="http://schemas.microsoft.com/office/drawing/2014/main" id="{A177CF4C-287D-4F10-9367-1713955B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最小必要、只读、脱敏；盲测集与索引集按时间隔离。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2000250"/>
          <a:ext xmlns:a="http://schemas.openxmlformats.org/drawingml/2006/main" cx="111252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381125"/>
                <a:gridCol w="3476625"/>
                <a:gridCol w="2190750"/>
                <a:gridCol w="2266950"/>
              </a:tblGrid>
              <a:tr h="7239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资产</a:t>
                      </a:r>
                    </a:p>
                  </a:txBody>
                  <a:tcPr marL="76200" marR="76200" marT="76200" marB="76200" anchor="ctr">
                    <a:solidFill>
                      <a:srgbClr val="6DCB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最小样本</a:t>
                      </a:r>
                    </a:p>
                  </a:txBody>
                  <a:tcPr marL="76200" marR="76200" marT="76200" marB="76200" anchor="ctr">
                    <a:solidFill>
                      <a:srgbClr val="6DCB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关键内容</a:t>
                      </a:r>
                    </a:p>
                  </a:txBody>
                  <a:tcPr marL="76200" marR="76200" marT="76200" marB="76200" anchor="ctr">
                    <a:solidFill>
                      <a:srgbClr val="6DCB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建议所有者</a:t>
                      </a:r>
                    </a:p>
                  </a:txBody>
                  <a:tcPr marL="76200" marR="76200" marT="76200" marB="76200" anchor="ctr">
                    <a:solidFill>
                      <a:srgbClr val="6DCB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进入条件</a:t>
                      </a:r>
                    </a:p>
                  </a:txBody>
                  <a:tcPr marL="76200" marR="76200" marT="76200" marB="76200" anchor="ctr">
                    <a:solidFill>
                      <a:srgbClr val="6DCBF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</a:rPr>
                        <a:t>已关闭历史案例</a:t>
                      </a:r>
                    </a:p>
                  </a:txBody>
                  <a:tcPr marL="76200" marR="7620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50–100 个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上下文、检查、排除项、根因、验证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产品/性能 + 质量/FA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结论和证据可审核</a:t>
                      </a:r>
                    </a:p>
                  </a:txBody>
                  <a:tcPr marL="76200" marR="76200" marT="76200" marB="76200" anchor="ctr"/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</a:rPr>
                        <a:t>制造上下文</a:t>
                      </a:r>
                    </a:p>
                  </a:txBody>
                  <a:tcPr marL="76200" marR="7620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8–12 周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产品、线/站/设备、FPY、代码、批次、版本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MES 数据所有者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跨系统关联 ≥95%（建议）</a:t>
                      </a:r>
                    </a:p>
                  </a:txBody>
                  <a:tcPr marL="76200" marR="76200" marT="76200" marB="76200" anchor="ctr"/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</a:rPr>
                        <a:t>权威工程文档</a:t>
                      </a:r>
                    </a:p>
                  </a:txBody>
                  <a:tcPr marL="76200" marR="7620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每类 5–20 份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SOP、OCAP、FA、变更；版本与适用范围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文控 + 工程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状态、有效期和权限可判断</a:t>
                      </a:r>
                    </a:p>
                  </a:txBody>
                  <a:tcPr marL="76200" marR="76200" marT="76200" marB="76200" anchor="ctr"/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</a:rPr>
                        <a:t>主数据与权限</a:t>
                      </a:r>
                    </a:p>
                  </a:txBody>
                  <a:tcPr marL="76200" marR="7620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PoC 范围全量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产品、设备层级、代码、版本、角色映射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PLM/MES/IAM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稳定主键且不扩大源权限</a:t>
                      </a:r>
                    </a:p>
                  </a:txBody>
                  <a:tcPr marL="76200" marR="76200" marT="76200" marB="762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2927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E7C1ADC3-B9F2-4BBE-B689-F8CBC0D7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第 1 周先回答四个现场问题</a:t>
            </a:r>
          </a:p>
        </p:txBody>
      </p:sp>
      <p:sp>
        <p:nvSpPr>
          <p:cNvPr id="2" name="slide-9-footer">
            <a:extLst xmlns:a="http://schemas.openxmlformats.org/drawingml/2006/main">
              <a:ext uri="{FF2B5EF4-FFF2-40B4-BE49-F238E27FC236}">
                <a16:creationId xmlns:a16="http://schemas.microsoft.com/office/drawing/2014/main" id="{51F8D877-F153-47EB-8153-50520360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公开信息推断 + 合成数据演示｜待 Seagate 无锡工厂验证</a:t>
            </a:r>
          </a:p>
        </p:txBody>
      </p:sp>
      <p:sp>
        <p:nvSpPr>
          <p:cNvPr id="3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E88D370C-4800-4D12-A3D0-A49E71C7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s9-title-0">
            <a:extLst xmlns:a="http://schemas.openxmlformats.org/drawingml/2006/main">
              <a:ext uri="{FF2B5EF4-FFF2-40B4-BE49-F238E27FC236}">
                <a16:creationId xmlns:a16="http://schemas.microsoft.com/office/drawing/2014/main" id="{57391994-9A6D-46AF-9B28-DF93A190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哪个异常最值钱？</a:t>
            </a:r>
          </a:p>
        </p:txBody>
      </p:sp>
      <p:sp>
        <p:nvSpPr>
          <p:cNvPr id="5" name="s9-body-0">
            <a:extLst xmlns:a="http://schemas.openxmlformats.org/drawingml/2006/main">
              <a:ext uri="{FF2B5EF4-FFF2-40B4-BE49-F238E27FC236}">
                <a16:creationId xmlns:a16="http://schemas.microsoft.com/office/drawing/2014/main" id="{C14F1221-C0FE-4FFA-9DAF-025CBFB5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523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最高频、最耗时或影响最大；SelfTest 是否真是正确切口？</a:t>
            </a:r>
          </a:p>
        </p:txBody>
      </p:sp>
      <p:sp>
        <p:nvSpPr>
          <p:cNvPr id="6" name="s9-title-1">
            <a:extLst xmlns:a="http://schemas.openxmlformats.org/drawingml/2006/main">
              <a:ext uri="{FF2B5EF4-FFF2-40B4-BE49-F238E27FC236}">
                <a16:creationId xmlns:a16="http://schemas.microsoft.com/office/drawing/2014/main" id="{353535D0-0C0B-436B-8E96-3E5C687F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621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首轮分诊到哪里？</a:t>
            </a:r>
          </a:p>
        </p:txBody>
      </p:sp>
      <p:sp>
        <p:nvSpPr>
          <p:cNvPr id="7" name="s9-body-1">
            <a:extLst xmlns:a="http://schemas.openxmlformats.org/drawingml/2006/main">
              <a:ext uri="{FF2B5EF4-FFF2-40B4-BE49-F238E27FC236}">
                <a16:creationId xmlns:a16="http://schemas.microsoft.com/office/drawing/2014/main" id="{F394835B-2708-4FFE-A7BF-982EF957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47950"/>
            <a:ext cx="523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从哪个触发开始，以什么输出结束；谁确认根因？</a:t>
            </a:r>
          </a:p>
        </p:txBody>
      </p:sp>
      <p:sp>
        <p:nvSpPr>
          <p:cNvPr id="8" name="s9-title-2">
            <a:extLst xmlns:a="http://schemas.openxmlformats.org/drawingml/2006/main">
              <a:ext uri="{FF2B5EF4-FFF2-40B4-BE49-F238E27FC236}">
                <a16:creationId xmlns:a16="http://schemas.microsoft.com/office/drawing/2014/main" id="{D4CD108B-93C1-4BA1-9062-B415C0E7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SeaTrack 能给什么？</a:t>
            </a:r>
          </a:p>
        </p:txBody>
      </p:sp>
      <p:sp>
        <p:nvSpPr>
          <p:cNvPr id="9" name="s9-body-2">
            <a:extLst xmlns:a="http://schemas.openxmlformats.org/drawingml/2006/main">
              <a:ext uri="{FF2B5EF4-FFF2-40B4-BE49-F238E27FC236}">
                <a16:creationId xmlns:a16="http://schemas.microsoft.com/office/drawing/2014/main" id="{AC8615FA-47F0-4F59-B1EF-8197894E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523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字段、粒度、接口、主键、数据质量、权限和历史范围。</a:t>
            </a:r>
          </a:p>
        </p:txBody>
      </p:sp>
      <p:sp>
        <p:nvSpPr>
          <p:cNvPr id="10" name="s9-title-3">
            <a:extLst xmlns:a="http://schemas.openxmlformats.org/drawingml/2006/main">
              <a:ext uri="{FF2B5EF4-FFF2-40B4-BE49-F238E27FC236}">
                <a16:creationId xmlns:a16="http://schemas.microsoft.com/office/drawing/2014/main" id="{F32094B4-DDEF-42FA-BE43-009F051D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04 哪些是红线？</a:t>
            </a:r>
          </a:p>
        </p:txBody>
      </p:sp>
      <p:sp>
        <p:nvSpPr>
          <p:cNvPr id="11" name="s9-body-3">
            <a:extLst xmlns:a="http://schemas.openxmlformats.org/drawingml/2006/main">
              <a:ext uri="{FF2B5EF4-FFF2-40B4-BE49-F238E27FC236}">
                <a16:creationId xmlns:a16="http://schemas.microsoft.com/office/drawing/2014/main" id="{F1DF3BAA-71D1-43A7-BF7C-88EA8527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523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不能看、不能说、不能做；谁批准部署和留存？</a:t>
            </a:r>
          </a:p>
        </p:txBody>
      </p:sp>
    </p:spTree>
    <p:extLst>
      <p:ext uri="{BB962C8B-B14F-4D97-AF65-F5344CB8AC3E}">
        <p14:creationId xmlns:p14="http://schemas.microsoft.com/office/powerpoint/2010/main" val="14554300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3E9A2130-E7F2-4405-9355-15DFACC7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六周内完成业务验证，而不是做无限期平台建设</a:t>
            </a:r>
          </a:p>
        </p:txBody>
      </p:sp>
      <p:sp>
        <p:nvSpPr>
          <p:cNvPr id="2" name="slide-10-footer">
            <a:extLst xmlns:a="http://schemas.openxmlformats.org/drawingml/2006/main">
              <a:ext uri="{FF2B5EF4-FFF2-40B4-BE49-F238E27FC236}">
                <a16:creationId xmlns:a16="http://schemas.microsoft.com/office/drawing/2014/main" id="{164F7414-6674-455B-A718-873CEF5B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公开信息推断 + 合成数据演示｜待 Seagate 无锡工厂验证</a:t>
            </a:r>
          </a:p>
        </p:txBody>
      </p:sp>
      <p:sp>
        <p:nvSpPr>
          <p:cNvPr id="3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687BD7BB-C4BC-4774-8568-732E33B3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cxnSp>
        <p:nvCxnSpPr>
          <p:cNvPr id="20" name="s10-timeline"/>
          <p:cNvCxnSpPr/>
          <p:nvPr/>
        </p:nvCxnSpPr>
        <p:spPr>
          <a:xfrm xmlns:a="http://schemas.openxmlformats.org/drawingml/2006/main">
            <a:off x="838200" y="3333750"/>
            <a:ext cx="10382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10-dot-0">
            <a:extLst xmlns:a="http://schemas.openxmlformats.org/drawingml/2006/main">
              <a:ext uri="{FF2B5EF4-FFF2-40B4-BE49-F238E27FC236}">
                <a16:creationId xmlns:a16="http://schemas.microsoft.com/office/drawing/2014/main" id="{1694BE86-FB6B-4F0A-9916-D2703662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0-label-0">
            <a:extLst xmlns:a="http://schemas.openxmlformats.org/drawingml/2006/main">
              <a:ext uri="{FF2B5EF4-FFF2-40B4-BE49-F238E27FC236}">
                <a16:creationId xmlns:a16="http://schemas.microsoft.com/office/drawing/2014/main" id="{DF487064-1CC3-40CC-AC7B-16F0B5DC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W1–2</a:t>
            </a:r>
          </a:p>
        </p:txBody>
      </p:sp>
      <p:sp>
        <p:nvSpPr>
          <p:cNvPr id="7" name="s10-title-0">
            <a:extLst xmlns:a="http://schemas.openxmlformats.org/drawingml/2006/main">
              <a:ext uri="{FF2B5EF4-FFF2-40B4-BE49-F238E27FC236}">
                <a16:creationId xmlns:a16="http://schemas.microsoft.com/office/drawing/2014/main" id="{A6B7F683-9ED4-4E55-AF4B-D17FB670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290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锁定场景与数据</a:t>
            </a:r>
          </a:p>
        </p:txBody>
      </p:sp>
      <p:sp>
        <p:nvSpPr>
          <p:cNvPr id="8" name="s10-body-0">
            <a:extLst xmlns:a="http://schemas.openxmlformats.org/drawingml/2006/main">
              <a:ext uri="{FF2B5EF4-FFF2-40B4-BE49-F238E27FC236}">
                <a16:creationId xmlns:a16="http://schemas.microsoft.com/office/drawing/2014/main" id="{681E47D6-E693-4460-9F6A-D21E0B53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291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访谈、真实案例走查、P0 清单、脱敏与安全审批</a:t>
            </a:r>
          </a:p>
        </p:txBody>
      </p:sp>
      <p:sp>
        <p:nvSpPr>
          <p:cNvPr id="9" name="s10-dot-1">
            <a:extLst xmlns:a="http://schemas.openxmlformats.org/drawingml/2006/main">
              <a:ext uri="{FF2B5EF4-FFF2-40B4-BE49-F238E27FC236}">
                <a16:creationId xmlns:a16="http://schemas.microsoft.com/office/drawing/2014/main" id="{23D32D4D-81D3-4E6E-8B0A-A84BDD32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0-label-1">
            <a:extLst xmlns:a="http://schemas.openxmlformats.org/drawingml/2006/main">
              <a:ext uri="{FF2B5EF4-FFF2-40B4-BE49-F238E27FC236}">
                <a16:creationId xmlns:a16="http://schemas.microsoft.com/office/drawing/2014/main" id="{693974F3-A5B9-4A1B-B0DD-B86BE914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W3–4</a:t>
            </a:r>
          </a:p>
        </p:txBody>
      </p:sp>
      <p:sp>
        <p:nvSpPr>
          <p:cNvPr id="11" name="s10-title-1">
            <a:extLst xmlns:a="http://schemas.openxmlformats.org/drawingml/2006/main">
              <a:ext uri="{FF2B5EF4-FFF2-40B4-BE49-F238E27FC236}">
                <a16:creationId xmlns:a16="http://schemas.microsoft.com/office/drawing/2014/main" id="{393F4F86-A49E-4483-83F5-159DA35C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290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接入与盲测</a:t>
            </a:r>
          </a:p>
        </p:txBody>
      </p:sp>
      <p:sp>
        <p:nvSpPr>
          <p:cNvPr id="12" name="s10-body-1">
            <a:extLst xmlns:a="http://schemas.openxmlformats.org/drawingml/2006/main">
              <a:ext uri="{FF2B5EF4-FFF2-40B4-BE49-F238E27FC236}">
                <a16:creationId xmlns:a16="http://schemas.microsoft.com/office/drawing/2014/main" id="{C3E19E6E-7401-4748-A322-34DA3069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291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上下文映射、文档版本、混合检索、50–100 题离线评测</a:t>
            </a:r>
          </a:p>
        </p:txBody>
      </p:sp>
      <p:sp>
        <p:nvSpPr>
          <p:cNvPr id="13" name="s10-dot-2">
            <a:extLst xmlns:a="http://schemas.openxmlformats.org/drawingml/2006/main">
              <a:ext uri="{FF2B5EF4-FFF2-40B4-BE49-F238E27FC236}">
                <a16:creationId xmlns:a16="http://schemas.microsoft.com/office/drawing/2014/main" id="{0E74AB2D-6BC8-4EF8-9C16-A93BC55D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0-label-2">
            <a:extLst xmlns:a="http://schemas.openxmlformats.org/drawingml/2006/main">
              <a:ext uri="{FF2B5EF4-FFF2-40B4-BE49-F238E27FC236}">
                <a16:creationId xmlns:a16="http://schemas.microsoft.com/office/drawing/2014/main" id="{199E7F0A-8023-4616-9696-FBE86A28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W5–6</a:t>
            </a:r>
          </a:p>
        </p:txBody>
      </p:sp>
      <p:sp>
        <p:nvSpPr>
          <p:cNvPr id="15" name="s10-title-2">
            <a:extLst xmlns:a="http://schemas.openxmlformats.org/drawingml/2006/main">
              <a:ext uri="{FF2B5EF4-FFF2-40B4-BE49-F238E27FC236}">
                <a16:creationId xmlns:a16="http://schemas.microsoft.com/office/drawing/2014/main" id="{246FD80A-239D-4AE8-912F-86D43964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290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影子试用与决策</a:t>
            </a:r>
          </a:p>
        </p:txBody>
      </p:sp>
      <p:sp>
        <p:nvSpPr>
          <p:cNvPr id="16" name="s10-body-2">
            <a:extLst xmlns:a="http://schemas.openxmlformats.org/drawingml/2006/main">
              <a:ext uri="{FF2B5EF4-FFF2-40B4-BE49-F238E27FC236}">
                <a16:creationId xmlns:a16="http://schemas.microsoft.com/office/drawing/2014/main" id="{A76AB3C7-C176-4B97-B9DE-E43DB009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291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不影响现有流程；复盘价值、风险与生产化差距</a:t>
            </a:r>
          </a:p>
        </p:txBody>
      </p:sp>
    </p:spTree>
    <p:extLst>
      <p:ext uri="{BB962C8B-B14F-4D97-AF65-F5344CB8AC3E}">
        <p14:creationId xmlns:p14="http://schemas.microsoft.com/office/powerpoint/2010/main" val="14913347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38BC744B-8EE0-4CA3-AED6-795586C8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进入生产化前，至少要同时证明准确、可追溯和安全</a:t>
            </a:r>
          </a:p>
        </p:txBody>
      </p:sp>
      <p:sp>
        <p:nvSpPr>
          <p:cNvPr id="2" name="slide-11-footer">
            <a:extLst xmlns:a="http://schemas.openxmlformats.org/drawingml/2006/main">
              <a:ext uri="{FF2B5EF4-FFF2-40B4-BE49-F238E27FC236}">
                <a16:creationId xmlns:a16="http://schemas.microsoft.com/office/drawing/2014/main" id="{E7061B1E-905F-4FDD-9354-4E8DFE68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公开信息推断 + 合成数据演示｜待 Seagate 无锡工厂验证</a:t>
            </a:r>
          </a:p>
        </p:txBody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56BB2002-BAB3-4377-BD6A-4084C639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s11-intro">
            <a:extLst xmlns:a="http://schemas.openxmlformats.org/drawingml/2006/main">
              <a:ext uri="{FF2B5EF4-FFF2-40B4-BE49-F238E27FC236}">
                <a16:creationId xmlns:a16="http://schemas.microsoft.com/office/drawing/2014/main" id="{43748829-7F21-4D2D-993F-42E0A374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建议再加一项业务门槛：首轮分诊中位时间下降 ≥30%。目标值由工厂确认，不是当前成绩。</a:t>
            </a:r>
          </a:p>
        </p:txBody>
      </p:sp>
      <p:sp>
        <p:nvSpPr>
          <p:cNvPr id="5" name="s11-panel-0">
            <a:extLst xmlns:a="http://schemas.openxmlformats.org/drawingml/2006/main">
              <a:ext uri="{FF2B5EF4-FFF2-40B4-BE49-F238E27FC236}">
                <a16:creationId xmlns:a16="http://schemas.microsoft.com/office/drawing/2014/main" id="{B79E1C77-E5F3-4D72-A64D-0FCDB0E7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562350" cy="295275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s11-stat-0">
            <a:extLst xmlns:a="http://schemas.openxmlformats.org/drawingml/2006/main">
              <a:ext uri="{FF2B5EF4-FFF2-40B4-BE49-F238E27FC236}">
                <a16:creationId xmlns:a16="http://schemas.microsoft.com/office/drawing/2014/main" id="{D047F0B0-DF68-4892-A678-065CF28C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990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≥70%</a:t>
            </a:r>
          </a:p>
        </p:txBody>
      </p:sp>
      <p:sp>
        <p:nvSpPr>
          <p:cNvPr id="7" name="s11-body-0">
            <a:extLst xmlns:a="http://schemas.openxmlformats.org/drawingml/2006/main">
              <a:ext uri="{FF2B5EF4-FFF2-40B4-BE49-F238E27FC236}">
                <a16:creationId xmlns:a16="http://schemas.microsoft.com/office/drawing/2014/main" id="{A3308D12-A2F8-4FE8-B7D6-7CC26D0F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Top-3 有用案例命中率</a:t>
            </a:r>
          </a:p>
        </p:txBody>
      </p:sp>
      <p:sp>
        <p:nvSpPr>
          <p:cNvPr id="8" name="s11-panel-1">
            <a:extLst xmlns:a="http://schemas.openxmlformats.org/drawingml/2006/main">
              <a:ext uri="{FF2B5EF4-FFF2-40B4-BE49-F238E27FC236}">
                <a16:creationId xmlns:a16="http://schemas.microsoft.com/office/drawing/2014/main" id="{EEE14C7E-BB45-420E-8E1C-5680075A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57500"/>
            <a:ext cx="3562350" cy="295275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9" name="s11-stat-1">
            <a:extLst xmlns:a="http://schemas.openxmlformats.org/drawingml/2006/main">
              <a:ext uri="{FF2B5EF4-FFF2-40B4-BE49-F238E27FC236}">
                <a16:creationId xmlns:a16="http://schemas.microsoft.com/office/drawing/2014/main" id="{3BEA4889-6046-446D-BB0E-713AF9B4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38500"/>
            <a:ext cx="2990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≥95%</a:t>
            </a:r>
          </a:p>
        </p:txBody>
      </p:sp>
      <p:sp>
        <p:nvSpPr>
          <p:cNvPr id="10" name="s11-body-1">
            <a:extLst xmlns:a="http://schemas.openxmlformats.org/drawingml/2006/main">
              <a:ext uri="{FF2B5EF4-FFF2-40B4-BE49-F238E27FC236}">
                <a16:creationId xmlns:a16="http://schemas.microsoft.com/office/drawing/2014/main" id="{9B22FC89-F263-437A-95D8-DB0E05F7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62500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引用正确率</a:t>
            </a:r>
          </a:p>
        </p:txBody>
      </p:sp>
      <p:sp>
        <p:nvSpPr>
          <p:cNvPr id="11" name="s11-panel-2">
            <a:extLst xmlns:a="http://schemas.openxmlformats.org/drawingml/2006/main">
              <a:ext uri="{FF2B5EF4-FFF2-40B4-BE49-F238E27FC236}">
                <a16:creationId xmlns:a16="http://schemas.microsoft.com/office/drawing/2014/main" id="{67A62368-20D0-4C95-BEAA-3C41D5EE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3562350" cy="295275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s11-stat-2">
            <a:extLst xmlns:a="http://schemas.openxmlformats.org/drawingml/2006/main">
              <a:ext uri="{FF2B5EF4-FFF2-40B4-BE49-F238E27FC236}">
                <a16:creationId xmlns:a16="http://schemas.microsoft.com/office/drawing/2014/main" id="{E044B127-A04F-42B1-8C20-7E7816EC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38500"/>
            <a:ext cx="2990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13" name="s11-body-2">
            <a:extLst xmlns:a="http://schemas.openxmlformats.org/drawingml/2006/main">
              <a:ext uri="{FF2B5EF4-FFF2-40B4-BE49-F238E27FC236}">
                <a16:creationId xmlns:a16="http://schemas.microsoft.com/office/drawing/2014/main" id="{B3DE55FA-B724-4EC8-90BE-7D249CC7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0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高风险越权拒绝率</a:t>
            </a:r>
          </a:p>
        </p:txBody>
      </p:sp>
    </p:spTree>
    <p:extLst>
      <p:ext uri="{BB962C8B-B14F-4D97-AF65-F5344CB8AC3E}">
        <p14:creationId xmlns:p14="http://schemas.microsoft.com/office/powerpoint/2010/main" val="15151866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12-kicker">
            <a:extLst xmlns:a="http://schemas.openxmlformats.org/drawingml/2006/main">
              <a:ext uri="{FF2B5EF4-FFF2-40B4-BE49-F238E27FC236}">
                <a16:creationId xmlns:a16="http://schemas.microsoft.com/office/drawing/2014/main" id="{46C88E99-700D-4303-A0D9-99EA42C1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863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8636C"/>
                </a:solidFill>
                <a:latin typeface="Helvetica Neue"/>
                <a:ea typeface="Helvetica Neue"/>
                <a:cs typeface="Helvetica Neue"/>
              </a:rPr>
              <a:t>NEXT DECISION</a:t>
            </a:r>
          </a:p>
        </p:txBody>
      </p:sp>
      <p:sp>
        <p:nvSpPr>
          <p:cNvPr id="2" name="s12-title">
            <a:extLst xmlns:a="http://schemas.openxmlformats.org/drawingml/2006/main">
              <a:ext uri="{FF2B5EF4-FFF2-40B4-BE49-F238E27FC236}">
                <a16:creationId xmlns:a16="http://schemas.microsoft.com/office/drawing/2014/main" id="{37EA4798-4E5D-4DEA-AB8A-2C20CB3E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批准 6 周验证</a:t>
            </a:r>
          </a:p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而不是直接上线</a:t>
            </a:r>
          </a:p>
        </p:txBody>
      </p:sp>
      <p:sp>
        <p:nvSpPr>
          <p:cNvPr id="3" name="s12-ask1">
            <a:extLst xmlns:a="http://schemas.openxmlformats.org/drawingml/2006/main">
              <a:ext uri="{FF2B5EF4-FFF2-40B4-BE49-F238E27FC236}">
                <a16:creationId xmlns:a16="http://schemas.microsoft.com/office/drawing/2014/main" id="{67EF94A3-EE1E-4A8F-AD52-79B13DE1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 名业务负责人 + 2 名工程 SME</a:t>
            </a:r>
          </a:p>
        </p:txBody>
      </p:sp>
      <p:sp>
        <p:nvSpPr>
          <p:cNvPr id="4" name="s12-ask2">
            <a:extLst xmlns:a="http://schemas.openxmlformats.org/drawingml/2006/main">
              <a:ext uri="{FF2B5EF4-FFF2-40B4-BE49-F238E27FC236}">
                <a16:creationId xmlns:a16="http://schemas.microsoft.com/office/drawing/2014/main" id="{5979D184-93F3-46EE-9A26-D7496014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一套脱敏、只读、可删除的样本</a:t>
            </a:r>
          </a:p>
        </p:txBody>
      </p:sp>
      <p:sp>
        <p:nvSpPr>
          <p:cNvPr id="5" name="s12-ask3">
            <a:extLst xmlns:a="http://schemas.openxmlformats.org/drawingml/2006/main">
              <a:ext uri="{FF2B5EF4-FFF2-40B4-BE49-F238E27FC236}">
                <a16:creationId xmlns:a16="http://schemas.microsoft.com/office/drawing/2014/main" id="{711FC7CB-3AD5-48C5-BEC5-79718F36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第 6 周 Go / Adjust / Stop</a:t>
            </a:r>
          </a:p>
        </p:txBody>
      </p:sp>
      <p:sp>
        <p:nvSpPr>
          <p:cNvPr id="6" name="s12-boundary">
            <a:extLst xmlns:a="http://schemas.openxmlformats.org/drawingml/2006/main">
              <a:ext uri="{FF2B5EF4-FFF2-40B4-BE49-F238E27FC236}">
                <a16:creationId xmlns:a16="http://schemas.microsoft.com/office/drawing/2014/main" id="{907755CF-BACB-4B08-AB49-679BED18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4933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范围未确认不接真实系统；安全红线未过不做影子试用。</a:t>
            </a:r>
          </a:p>
        </p:txBody>
      </p:sp>
    </p:spTree>
    <p:extLst>
      <p:ext uri="{BB962C8B-B14F-4D97-AF65-F5344CB8AC3E}">
        <p14:creationId xmlns:p14="http://schemas.microsoft.com/office/powerpoint/2010/main" val="537314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2026-07-28T20:34:35.8570000Z</dcterms:created>
  <dcterms:modified xsi:type="dcterms:W3CDTF">2026-07-28T20:34:35.8570000Z</dcterms:modified>
</coreProperties>
</file>